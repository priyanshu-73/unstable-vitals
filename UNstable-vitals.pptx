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eague Spartan" charset="1" panose="00000800000000000000"/>
      <p:regular r:id="rId15"/>
    </p:embeddedFont>
    <p:embeddedFont>
      <p:font typeface="Gotham Bold" charset="1" panose="00000000000000000000"/>
      <p:regular r:id="rId16"/>
    </p:embeddedFont>
    <p:embeddedFont>
      <p:font typeface="Times New Roman MT Condensed" charset="1" panose="02030506070405020303"/>
      <p:regular r:id="rId17"/>
    </p:embeddedFont>
    <p:embeddedFont>
      <p:font typeface="Gotham" charset="1" panose="00000000000000000000"/>
      <p:regular r:id="rId18"/>
    </p:embeddedFont>
    <p:embeddedFont>
      <p:font typeface="Times New Roman MT Condensed Italics" charset="1" panose="02030506070405090303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jpeg" Type="http://schemas.openxmlformats.org/officeDocument/2006/relationships/image"/><Relationship Id="rId4" Target="../media/image6.jpe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801408" y="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127981" y="2446715"/>
            <a:ext cx="4032038" cy="2712462"/>
          </a:xfrm>
          <a:custGeom>
            <a:avLst/>
            <a:gdLst/>
            <a:ahLst/>
            <a:cxnLst/>
            <a:rect r="r" b="b" t="t" l="l"/>
            <a:pathLst>
              <a:path h="2712462" w="4032038">
                <a:moveTo>
                  <a:pt x="0" y="0"/>
                </a:moveTo>
                <a:lnTo>
                  <a:pt x="4032038" y="0"/>
                </a:lnTo>
                <a:lnTo>
                  <a:pt x="4032038" y="2712462"/>
                </a:lnTo>
                <a:lnTo>
                  <a:pt x="0" y="27124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02382" y="5006777"/>
            <a:ext cx="10083236" cy="14167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85"/>
              </a:lnSpc>
            </a:pPr>
            <a:r>
              <a:rPr lang="en-US" sz="8346">
                <a:solidFill>
                  <a:srgbClr val="0E471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UNSTABLE VITALS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111255" y="6480689"/>
            <a:ext cx="6065490" cy="365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b="true" sz="27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Ex</a:t>
            </a:r>
            <a:r>
              <a:rPr lang="en-US" b="true" sz="2799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ercise safer - one rep at a time.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29682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7" y="0"/>
                </a:lnTo>
                <a:lnTo>
                  <a:pt x="28550447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450334"/>
            <a:ext cx="11269282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AGENDA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846657"/>
            <a:ext cx="7877184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Our Mission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Products and Services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Competitors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Size of Market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Our Future Path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Revenue model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951432"/>
            <a:ext cx="10386396" cy="36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spc="-41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To revolutionize home rehabilitation by building an intelligent AI platform where mobility-impaired individuals can exercise safely, independently, and confidently. Our platform serves as a 24/7 guardian—combining real-time form correction, emotion detection, and instant fall alerts to guardians—ensuring patients stay safe while reclaiming their freedom to exercise without fear.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450334"/>
            <a:ext cx="14423006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OUR MISSION</a:t>
            </a:r>
          </a:p>
        </p:txBody>
      </p:sp>
      <p:sp>
        <p:nvSpPr>
          <p:cNvPr name="Freeform 4" id="4"/>
          <p:cNvSpPr/>
          <p:nvPr/>
        </p:nvSpPr>
        <p:spPr>
          <a:xfrm flipH="true" flipV="false" rot="0">
            <a:off x="11415085" y="-545920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28550447" y="0"/>
                </a:moveTo>
                <a:lnTo>
                  <a:pt x="0" y="0"/>
                </a:lnTo>
                <a:lnTo>
                  <a:pt x="0" y="11313545"/>
                </a:lnTo>
                <a:lnTo>
                  <a:pt x="28550447" y="11313545"/>
                </a:lnTo>
                <a:lnTo>
                  <a:pt x="2855044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6753507"/>
            <a:ext cx="8823231" cy="3533493"/>
            <a:chOff x="0" y="0"/>
            <a:chExt cx="11764309" cy="4711324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4358" r="0" b="14358"/>
            <a:stretch>
              <a:fillRect/>
            </a:stretch>
          </p:blipFill>
          <p:spPr>
            <a:xfrm flipH="false" flipV="false">
              <a:off x="0" y="0"/>
              <a:ext cx="11764309" cy="4711324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8701086" y="6753507"/>
            <a:ext cx="4665432" cy="3533493"/>
            <a:chOff x="0" y="0"/>
            <a:chExt cx="6220576" cy="471132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0" t="24731" r="0" b="24731"/>
            <a:stretch>
              <a:fillRect/>
            </a:stretch>
          </p:blipFill>
          <p:spPr>
            <a:xfrm flipH="false" flipV="false">
              <a:off x="0" y="0"/>
              <a:ext cx="6220576" cy="471132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13054758" y="6753507"/>
            <a:ext cx="5444483" cy="3533493"/>
            <a:chOff x="0" y="0"/>
            <a:chExt cx="7259311" cy="4711324"/>
          </a:xfrm>
        </p:grpSpPr>
        <p:pic>
          <p:nvPicPr>
            <p:cNvPr name="Picture 7" id="7"/>
            <p:cNvPicPr>
              <a:picLocks noChangeAspect="true"/>
            </p:cNvPicPr>
            <p:nvPr/>
          </p:nvPicPr>
          <p:blipFill>
            <a:blip r:embed="rId4"/>
            <a:srcRect l="0" t="1368" r="0" b="1368"/>
            <a:stretch>
              <a:fillRect/>
            </a:stretch>
          </p:blipFill>
          <p:spPr>
            <a:xfrm flipH="false" flipV="false">
              <a:off x="0" y="0"/>
              <a:ext cx="7259311" cy="4711324"/>
            </a:xfrm>
            <a:prstGeom prst="rect">
              <a:avLst/>
            </a:prstGeom>
          </p:spPr>
        </p:pic>
      </p:grpSp>
      <p:sp>
        <p:nvSpPr>
          <p:cNvPr name="Freeform 8" id="8"/>
          <p:cNvSpPr/>
          <p:nvPr/>
        </p:nvSpPr>
        <p:spPr>
          <a:xfrm flipH="false" flipV="false" rot="0">
            <a:off x="12210852" y="-1063244"/>
            <a:ext cx="8434028" cy="6114306"/>
          </a:xfrm>
          <a:custGeom>
            <a:avLst/>
            <a:gdLst/>
            <a:ahLst/>
            <a:cxnLst/>
            <a:rect r="r" b="b" t="t" l="l"/>
            <a:pathLst>
              <a:path h="6114306" w="8434028">
                <a:moveTo>
                  <a:pt x="0" y="0"/>
                </a:moveTo>
                <a:lnTo>
                  <a:pt x="8434028" y="0"/>
                </a:lnTo>
                <a:lnTo>
                  <a:pt x="8434028" y="6114305"/>
                </a:lnTo>
                <a:lnTo>
                  <a:pt x="0" y="611430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93483" r="-128662" b="-5254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52089" y="3650555"/>
            <a:ext cx="10440053" cy="12088482"/>
          </a:xfrm>
          <a:custGeom>
            <a:avLst/>
            <a:gdLst/>
            <a:ahLst/>
            <a:cxnLst/>
            <a:rect r="r" b="b" t="t" l="l"/>
            <a:pathLst>
              <a:path h="12088482" w="10440053">
                <a:moveTo>
                  <a:pt x="0" y="0"/>
                </a:moveTo>
                <a:lnTo>
                  <a:pt x="10440052" y="0"/>
                </a:lnTo>
                <a:lnTo>
                  <a:pt x="10440052" y="12088482"/>
                </a:lnTo>
                <a:lnTo>
                  <a:pt x="0" y="1208848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88655"/>
            <a:ext cx="16208782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0"/>
              </a:lnSpc>
            </a:pPr>
            <a:r>
              <a:rPr lang="en-US" sz="5000" spc="-125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490" y="3524520"/>
            <a:ext cx="3607211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Real-time exercise correction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Prevents injury before it happens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440195" y="3524520"/>
            <a:ext cx="3607211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20-second fall warning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Auto-alerts guardians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228301" y="3524520"/>
            <a:ext cx="3607211" cy="549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Detects pain/frustration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Sends encouraging messages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83805" y="3524520"/>
            <a:ext cx="3607211" cy="826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Alerts if person leaves frame 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→ 20s countdown before emergency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2970482"/>
            <a:ext cx="377660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FORM POLICE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8301" y="2970482"/>
            <a:ext cx="3904790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EMOTION READER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45124" y="2970482"/>
            <a:ext cx="4197428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FALL DETECTIVE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83805" y="2970482"/>
            <a:ext cx="5134301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spc="-55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DISAPPEARANCE TRACKER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85010" y="2981959"/>
            <a:ext cx="10895947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The global telerehabilitation market is valued at $16.67 billion, growing at 13-15% annually. While competitors charge $2,400+ per user, a $30 billion gap exists for affordable solutions. Over 1 billion people with mobility limitations lack access to affordable physical therapy. AI Exercise Guardian fills this gap at ₹99/month, making safe, independent rehabilitation accessible to everyone.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885010" y="6414135"/>
            <a:ext cx="10680102" cy="333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India's elderly and mobility-impaired population exceeds 200 million, with 80% unable to afford in-person physical therapy costing ₹2,000-5,000 per session. The telehealth market is expanding rapidly, yet no affordable solution exists for safe, independent home rehabilitation. AI Exercise Guardian captures this ₹5,000+ crore opportunity by delivering clinical-grade exercise monitoring at ₹99/month, making rehabilitation accessible across tier-2 cities where traditional PT services are unavailable.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85010" y="2241817"/>
            <a:ext cx="512170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 spc="-6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GLOBAL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85010" y="5673725"/>
            <a:ext cx="512170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b="true" sz="3099" spc="-61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INDIA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66750"/>
            <a:ext cx="9798971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SIZE OF MARKET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1562875" y="3214059"/>
            <a:ext cx="10440053" cy="12088482"/>
          </a:xfrm>
          <a:custGeom>
            <a:avLst/>
            <a:gdLst/>
            <a:ahLst/>
            <a:cxnLst/>
            <a:rect r="r" b="b" t="t" l="l"/>
            <a:pathLst>
              <a:path h="12088482" w="10440053">
                <a:moveTo>
                  <a:pt x="0" y="0"/>
                </a:moveTo>
                <a:lnTo>
                  <a:pt x="10440053" y="0"/>
                </a:lnTo>
                <a:lnTo>
                  <a:pt x="10440053" y="12088482"/>
                </a:lnTo>
                <a:lnTo>
                  <a:pt x="0" y="120884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855596" y="3465782"/>
            <a:ext cx="18114896" cy="0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133475" y="3251856"/>
            <a:ext cx="0" cy="831117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H="true" flipV="true">
            <a:off x="4391025" y="3251856"/>
            <a:ext cx="0" cy="831117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7686675" y="3251856"/>
            <a:ext cx="0" cy="831117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0963275" y="3251856"/>
            <a:ext cx="0" cy="831117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4220825" y="3251856"/>
            <a:ext cx="0" cy="831117"/>
          </a:xfrm>
          <a:prstGeom prst="line">
            <a:avLst/>
          </a:prstGeom>
          <a:ln cap="flat" w="19050">
            <a:solidFill>
              <a:srgbClr val="0E471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5400000">
            <a:off x="17128868" y="3386661"/>
            <a:ext cx="260864" cy="158243"/>
            <a:chOff x="0" y="0"/>
            <a:chExt cx="495569" cy="30061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5569" cy="300618"/>
            </a:xfrm>
            <a:custGeom>
              <a:avLst/>
              <a:gdLst/>
              <a:ahLst/>
              <a:cxnLst/>
              <a:rect r="r" b="b" t="t" l="l"/>
              <a:pathLst>
                <a:path h="300618" w="495569">
                  <a:moveTo>
                    <a:pt x="247784" y="0"/>
                  </a:moveTo>
                  <a:lnTo>
                    <a:pt x="495569" y="300618"/>
                  </a:lnTo>
                  <a:lnTo>
                    <a:pt x="0" y="300618"/>
                  </a:lnTo>
                  <a:lnTo>
                    <a:pt x="247784" y="0"/>
                  </a:lnTo>
                  <a:close/>
                </a:path>
              </a:pathLst>
            </a:custGeom>
            <a:solidFill>
              <a:srgbClr val="0E471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7433" y="101473"/>
              <a:ext cx="340704" cy="1776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40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7620000" y="5806998"/>
            <a:ext cx="3086100" cy="331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🎤 Conversational voice guidance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🗣️ Natural language instructions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💬 Real-time motivation &amp; encouragement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🎯 Personalized coaching style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Hands-free guidance that responds to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user needs, perfect for people unable to look at screens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20000" y="4721148"/>
            <a:ext cx="278564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VOICE COACH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200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5806998"/>
            <a:ext cx="3086100" cy="303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⌚ Connect Apple Watch, Fitbit, Garmin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❤️ Real-time heart rate during exercises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📊 Log vitals with session data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🚨 Advanced fall detection (accelerometer)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Transform wearables into safety devices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that enhance our AI detection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66800" y="4721148"/>
            <a:ext cx="278564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SMARTWATCH INTEGRATION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668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3400" y="5806998"/>
            <a:ext cx="3086100" cy="3312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👥 Exercise with friends/family simultaneously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🏆 Live leaderboards &amp; competition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🎁 Social rewards &amp; achievement badges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💬 Cheer each other on in real-time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Turn solo rehabilitation into a social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experience that increases motivation &amp; adherence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43400" y="4721148"/>
            <a:ext cx="3276600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MULTIPLAYER CHALLENGES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434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34700" y="5806998"/>
            <a:ext cx="3086100" cy="3035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🏥 Connect with healthcare providers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📋 Digital PT prescriptions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📊 Share progress reports with doctors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👨‍⚕️ Licensed physiotherapist oversight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Enterprise B2B solution that hospitals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can use for patient monitoring &amp; home rehab programs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896600" y="4721148"/>
            <a:ext cx="278564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HOSPITAL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8966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173200" y="5806998"/>
            <a:ext cx="3086100" cy="4140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🔮 Predict health decline before symptoms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📉 Forecast fall risk 2-3 weeks ahead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💊 Recommend preventive exercises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🚨 Alert guardians of emerging risks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Description: ML model that learns individual patterns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to prevent emergencies, not just respond to them</a:t>
            </a: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  <a:p>
            <a:pPr algn="l">
              <a:lnSpc>
                <a:spcPts val="2240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4173200" y="4721148"/>
            <a:ext cx="2785647" cy="98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PREDICTIVE HEALTH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1732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1450334"/>
            <a:ext cx="16230600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OUR FUTURE PATH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173200" y="4216323"/>
            <a:ext cx="2785647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M5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32552"/>
            <a:ext cx="9798971" cy="1522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469"/>
              </a:lnSpc>
            </a:pPr>
            <a:r>
              <a:rPr lang="en-US" sz="10884" spc="-272">
                <a:solidFill>
                  <a:srgbClr val="0E4714"/>
                </a:solidFill>
                <a:latin typeface="Times New Roman MT Condensed"/>
                <a:ea typeface="Times New Roman MT Condensed"/>
                <a:cs typeface="Times New Roman MT Condensed"/>
                <a:sym typeface="Times New Roman MT Condensed"/>
              </a:rPr>
              <a:t>REVENUE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769745"/>
            <a:ext cx="17259300" cy="9042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2400" spc="-36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1. MODEL 1: FREEMIUM + SUBSCRIPTION</a:t>
            </a:r>
          </a:p>
          <a:p>
            <a:pPr algn="l">
              <a:lnSpc>
                <a:spcPts val="4488"/>
              </a:lnSpc>
            </a:pP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Our p</a:t>
            </a: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rimary revenue stream follows a freemium model where patients access basic features free while premium users pay ₹99/month for unlimited exercises, emotion detection, and 24/7 guardian alerts. This mirrors successful apps like MyFitnessPal ($310M revenue) with a 2-3% conversion rate. We project ₹50 lakh in Year 1 (5,000 premium users) scaling to ₹5 crore in Year 2 (50,000 users).</a:t>
            </a:r>
          </a:p>
          <a:p>
            <a:pPr algn="l">
              <a:lnSpc>
                <a:spcPts val="4488"/>
              </a:lnSpc>
            </a:pPr>
            <a:r>
              <a:rPr lang="en-US" sz="2400" spc="-36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2. MODEL 2: B2B ENTERPRISE &amp; HOSPITAL PARTNERSHIPS</a:t>
            </a:r>
          </a:p>
          <a:p>
            <a:pPr algn="l">
              <a:lnSpc>
                <a:spcPts val="4488"/>
              </a:lnSpc>
            </a:pP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We license our platform to hospitals (₹5-10 lakh annually), insurance companies (revenue-sharing), and corporate wellness programs (₹50K-2L per company). Each hospital contract represents 1,000+ patient users. This provides predictable recurring revenue with higher margins than B2C. Target: ₹1 crore Year 1 (10 contracts) scaling to ₹10 crore Year 2 (100 contracts).</a:t>
            </a:r>
          </a:p>
          <a:p>
            <a:pPr algn="l">
              <a:lnSpc>
                <a:spcPts val="4488"/>
              </a:lnSpc>
            </a:pPr>
            <a:r>
              <a:rPr lang="en-US" sz="2400" spc="-36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3. MODEL 3: COMMISSION-BASED MARKETPLACE</a:t>
            </a:r>
          </a:p>
          <a:p>
            <a:pPr algn="l">
              <a:lnSpc>
                <a:spcPts val="4488"/>
              </a:lnSpc>
            </a:pP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We create a m</a:t>
            </a:r>
            <a:r>
              <a:rPr lang="en-US" sz="2400" spc="-36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arketplace where licensed physiotherapists offer paid video consultations (20-30% commission) and sell equipment through affiliate partnerships (5-15% commission from Decathlon, Amazon). Additional revenue from in-app purchases like advanced exercise packs (₹299-499). This generates ₹20 lakh Year 1, scaling to ₹2 crore Year 2 with zero inventory costs.</a:t>
            </a:r>
          </a:p>
          <a:p>
            <a:pPr algn="l">
              <a:lnSpc>
                <a:spcPts val="542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01685" y="-437698"/>
            <a:ext cx="28550447" cy="11313545"/>
          </a:xfrm>
          <a:custGeom>
            <a:avLst/>
            <a:gdLst/>
            <a:ahLst/>
            <a:cxnLst/>
            <a:rect r="r" b="b" t="t" l="l"/>
            <a:pathLst>
              <a:path h="11313545" w="28550447">
                <a:moveTo>
                  <a:pt x="0" y="0"/>
                </a:moveTo>
                <a:lnTo>
                  <a:pt x="28550448" y="0"/>
                </a:lnTo>
                <a:lnTo>
                  <a:pt x="28550448" y="11313545"/>
                </a:lnTo>
                <a:lnTo>
                  <a:pt x="0" y="113135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49969" r="0" b="-59256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992349"/>
            <a:ext cx="16364271" cy="4421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9"/>
              </a:lnSpc>
            </a:pPr>
            <a:r>
              <a:rPr lang="en-US" sz="6154" i="true" spc="-11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Invest in the future of rehabilitation where AI empowers independence, prevents injuries, and saves lives—creating a purpose-driven, high-growth healthcare ecosystem that turns ₹17 crore revenue into social impact for 1 billion mobility-impaired people globally.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41832"/>
            <a:ext cx="3759405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sz="4585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=&gt; UNstable Vitals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0515" y="-2377820"/>
            <a:ext cx="19285436" cy="15042640"/>
          </a:xfrm>
          <a:custGeom>
            <a:avLst/>
            <a:gdLst/>
            <a:ahLst/>
            <a:cxnLst/>
            <a:rect r="r" b="b" t="t" l="l"/>
            <a:pathLst>
              <a:path h="15042640" w="19285436">
                <a:moveTo>
                  <a:pt x="0" y="0"/>
                </a:moveTo>
                <a:lnTo>
                  <a:pt x="19285437" y="0"/>
                </a:lnTo>
                <a:lnTo>
                  <a:pt x="19285437" y="15042640"/>
                </a:lnTo>
                <a:lnTo>
                  <a:pt x="0" y="150426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9150" y="2700805"/>
            <a:ext cx="16440150" cy="3444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68"/>
              </a:lnSpc>
              <a:spcBef>
                <a:spcPct val="0"/>
              </a:spcBef>
            </a:pPr>
            <a:r>
              <a:rPr lang="en-US" sz="18120" i="true" spc="-906">
                <a:solidFill>
                  <a:srgbClr val="0E4714"/>
                </a:solidFill>
                <a:latin typeface="Times New Roman MT Condensed Italics"/>
                <a:ea typeface="Times New Roman MT Condensed Italics"/>
                <a:cs typeface="Times New Roman MT Condensed Italics"/>
                <a:sym typeface="Times New Roman MT Condensed Italics"/>
              </a:rPr>
              <a:t>Thank you.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982600"/>
            <a:ext cx="2085362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0E4714"/>
                </a:solidFill>
                <a:latin typeface="Gotham Bold"/>
                <a:ea typeface="Gotham Bold"/>
                <a:cs typeface="Gotham Bold"/>
                <a:sym typeface="Gotham Bold"/>
              </a:rPr>
              <a:t>UNstable Vitals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258825"/>
            <a:ext cx="11628370" cy="5499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Priyanshu, Mohit, </a:t>
            </a:r>
          </a:p>
          <a:p>
            <a:pPr algn="l">
              <a:lnSpc>
                <a:spcPts val="2240"/>
              </a:lnSpc>
            </a:pPr>
            <a:r>
              <a:rPr lang="en-US" sz="1600">
                <a:solidFill>
                  <a:srgbClr val="0E4714"/>
                </a:solidFill>
                <a:latin typeface="Gotham"/>
                <a:ea typeface="Gotham"/>
                <a:cs typeface="Gotham"/>
                <a:sym typeface="Gotham"/>
              </a:rPr>
              <a:t>Pranjal, Charan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DAGfcS5IdNg</dc:identifier>
  <dcterms:modified xsi:type="dcterms:W3CDTF">2011-08-01T06:04:30Z</dcterms:modified>
  <cp:revision>1</cp:revision>
  <dc:title>foepet - Pitch Deck</dc:title>
</cp:coreProperties>
</file>